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 页。按 docs/competition/DEMO.md 的 8 分钟节奏讲述。数字以 VALIDATION.json 为准；不要把合成演示或模拟资金描述成真实用户成果。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FinPilot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4864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FinPilot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719072"/>
            <a:ext cx="667512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800" b="1">
                <a:solidFill>
                  <a:srgbClr val="17212B"/>
                </a:solidFill>
                <a:latin typeface="Microsoft YaHei"/>
              </a:rPr>
              <a:t>让资金安排</a:t>
            </a:r>
          </a:p>
          <a:p>
            <a:pPr>
              <a:spcAft>
                <a:spcPts val="1200"/>
              </a:spcAft>
            </a:pPr>
            <a:r>
              <a:rPr sz="3800" b="1">
                <a:solidFill>
                  <a:srgbClr val="17212B"/>
                </a:solidFill>
                <a:latin typeface="Microsoft YaHei"/>
              </a:rPr>
              <a:t>和风险依据看得懂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67665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400" b="0">
                <a:solidFill>
                  <a:srgbClr val="607086"/>
                </a:solidFill>
                <a:latin typeface="Microsoft YaHei"/>
              </a:rPr>
              <a:t>可解释财富管理智能体</a:t>
            </a:r>
          </a:p>
          <a:p>
            <a:pPr>
              <a:spcAft>
                <a:spcPts val="1200"/>
              </a:spcAft>
            </a:pPr>
            <a:r>
              <a:rPr sz="2400" b="0">
                <a:solidFill>
                  <a:srgbClr val="607086"/>
                </a:solidFill>
                <a:latin typeface="Microsoft YaHei"/>
              </a:rPr>
              <a:t>工行杯 · 财富管理服务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166360"/>
            <a:ext cx="6035040" cy="548640"/>
          </a:xfrm>
          <a:prstGeom prst="roundRect">
            <a:avLst>
              <a:gd name="adj" fmla="val 12000"/>
            </a:avLst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5266944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3 人团队  ｜  8 分钟演示  ｜  比赛原型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71600"/>
            <a:ext cx="2423160" cy="4800600"/>
          </a:xfrm>
          <a:prstGeom prst="roundRect">
            <a:avLst>
              <a:gd name="adj" fmla="val 12000"/>
            </a:avLst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ome.png"/>
          <p:cNvPicPr>
            <a:picLocks noChangeAspect="1"/>
          </p:cNvPicPr>
          <p:nvPr/>
        </p:nvPicPr>
        <p:blipFill>
          <a:blip r:embed="rId2"/>
          <a:srcRect b="4922"/>
          <a:stretch>
            <a:fillRect/>
          </a:stretch>
        </p:blipFill>
        <p:spPr>
          <a:xfrm>
            <a:off x="8321040" y="1463040"/>
            <a:ext cx="224028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个人财富管理，先看清用途与风险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4864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FinPilot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2768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哪些钱可以安排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65960"/>
            <a:ext cx="6675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先核对收入、开销、还款与数据完整性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0320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60320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什么时候需要用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53512"/>
            <a:ext cx="6675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近期目标与应急需求先于长期安排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47872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47872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方案有什么不同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41063"/>
            <a:ext cx="6675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风险、期限、流动性与费用逐项对照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535424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535424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使用 AI 如何放心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928616"/>
            <a:ext cx="6675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数字有依据，每笔资金动作由用户确认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600200"/>
            <a:ext cx="315468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1920240"/>
            <a:ext cx="260604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500" b="1">
                <a:solidFill>
                  <a:srgbClr val="3448ED"/>
                </a:solidFill>
                <a:latin typeface="Microsoft YaHei"/>
              </a:rPr>
              <a:t>产品假设</a:t>
            </a:r>
          </a:p>
          <a:p>
            <a:pPr>
              <a:spcAft>
                <a:spcPts val="1200"/>
              </a:spcAft>
            </a:pPr>
            <a:r>
              <a:rPr sz="2500" b="1">
                <a:solidFill>
                  <a:srgbClr val="3448ED"/>
                </a:solidFill>
                <a:latin typeface="Microsoft YaHei"/>
              </a:rPr>
              <a:t>↓</a:t>
            </a:r>
          </a:p>
          <a:p>
            <a:pPr>
              <a:spcAft>
                <a:spcPts val="1200"/>
              </a:spcAft>
            </a:pPr>
            <a:r>
              <a:rPr sz="2500" b="1">
                <a:solidFill>
                  <a:srgbClr val="3448ED"/>
                </a:solidFill>
                <a:latin typeface="Microsoft YaHei"/>
              </a:rPr>
              <a:t>可交互原型</a:t>
            </a:r>
          </a:p>
          <a:p>
            <a:pPr>
              <a:spcAft>
                <a:spcPts val="1200"/>
              </a:spcAft>
            </a:pPr>
            <a:r>
              <a:rPr sz="2500" b="1">
                <a:solidFill>
                  <a:srgbClr val="3448ED"/>
                </a:solidFill>
                <a:latin typeface="Microsoft YaHei"/>
              </a:rPr>
              <a:t>↓</a:t>
            </a:r>
          </a:p>
          <a:p>
            <a:pPr>
              <a:spcAft>
                <a:spcPts val="1200"/>
              </a:spcAft>
            </a:pPr>
            <a:r>
              <a:rPr sz="2500" b="1">
                <a:solidFill>
                  <a:srgbClr val="3448ED"/>
                </a:solidFill>
                <a:latin typeface="Microsoft YaHei"/>
              </a:rPr>
              <a:t>真实用户验证计划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账单、目标与投资使用同一份事实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4864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FinPilot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2057400"/>
            <a:ext cx="204825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3317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导入</a:t>
            </a:r>
          </a:p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核对流水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52344" y="251460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500" b="1">
                <a:solidFill>
                  <a:srgbClr val="607086"/>
                </a:solidFill>
                <a:latin typeface="Microsoft YaHe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08376" y="2057400"/>
            <a:ext cx="204825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18688" y="23317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计划</a:t>
            </a:r>
          </a:p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目标预留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5776" y="251460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500" b="1">
                <a:solidFill>
                  <a:srgbClr val="607086"/>
                </a:solidFill>
                <a:latin typeface="Microsoft YaHe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1807" y="2057400"/>
            <a:ext cx="204825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23317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比较</a:t>
            </a:r>
          </a:p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期限风险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9208" y="251460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500" b="1">
                <a:solidFill>
                  <a:srgbClr val="607086"/>
                </a:solidFill>
                <a:latin typeface="Microsoft YaHe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057400"/>
            <a:ext cx="204825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3317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操作</a:t>
            </a:r>
          </a:p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核对确认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514600"/>
            <a:ext cx="228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500" b="1">
                <a:solidFill>
                  <a:srgbClr val="607086"/>
                </a:solidFill>
                <a:latin typeface="Microsoft YaHe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8672" y="2057400"/>
            <a:ext cx="204825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58984" y="23317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反馈</a:t>
            </a:r>
          </a:p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审核改进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16052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500" b="0">
                <a:solidFill>
                  <a:srgbClr val="17212B"/>
                </a:solidFill>
                <a:latin typeface="Microsoft YaHei"/>
              </a:rPr>
              <a:t>个人流水排除合成收入，内部划转不制造盈利。</a:t>
            </a:r>
          </a:p>
          <a:p>
            <a:pPr>
              <a:spcAft>
                <a:spcPts val="1200"/>
              </a:spcAft>
            </a:pPr>
            <a:r>
              <a:rPr sz="2500" b="0">
                <a:solidFill>
                  <a:srgbClr val="17212B"/>
                </a:solidFill>
                <a:latin typeface="Microsoft YaHei"/>
              </a:rPr>
              <a:t>目标进度与银行本金分开记录，历史投研保持独立。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从流水开始，先核对再入账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4864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FinPilot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2768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可校正的预览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65960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日期、收支、金额、分类和资金性质逐行检查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0320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60320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重复导入有依据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53512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优先使用流水编号；无编号时精确匹配并人工核对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47872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47872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上下文一致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41063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页面所选区间传给助手，回源展示完整日期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535424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535424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录入后能纠错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928616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原 ID 编辑与筛选小计；多笔描述先拆分核对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71600"/>
            <a:ext cx="2423160" cy="4800600"/>
          </a:xfrm>
          <a:prstGeom prst="roundRect">
            <a:avLst>
              <a:gd name="adj" fmla="val 12000"/>
            </a:avLst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port-preview.png"/>
          <p:cNvPicPr>
            <a:picLocks noChangeAspect="1"/>
          </p:cNvPicPr>
          <p:nvPr/>
        </p:nvPicPr>
        <p:blipFill>
          <a:blip r:embed="rId2"/>
          <a:srcRect b="4922"/>
          <a:stretch>
            <a:fillRect/>
          </a:stretch>
        </p:blipFill>
        <p:spPr>
          <a:xfrm>
            <a:off x="8321040" y="1463040"/>
            <a:ext cx="224028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资金规划先明确约束，再讨论方案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4864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FinPilot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2768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计划由用户填写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65960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用款目标、期限、生活开销和还款可核对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0320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60320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先核对收入、开销与还款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53512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仅三笔工资不代表流水完整，可安排额待核对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47872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47872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资金与风险都有约束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41063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完整性未确认或结余不足，长期资格保持关闭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535424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535424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目标换了，进度不串用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928616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确认保留或归零；逐笔进度可撤销、期限可测算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71600"/>
            <a:ext cx="2423160" cy="4800600"/>
          </a:xfrm>
          <a:prstGeom prst="roundRect">
            <a:avLst>
              <a:gd name="adj" fmla="val 12000"/>
            </a:avLst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nvestment.png"/>
          <p:cNvPicPr>
            <a:picLocks noChangeAspect="1"/>
          </p:cNvPicPr>
          <p:nvPr/>
        </p:nvPicPr>
        <p:blipFill>
          <a:blip r:embed="rId2"/>
          <a:srcRect b="48535"/>
          <a:stretch>
            <a:fillRect/>
          </a:stretch>
        </p:blipFill>
        <p:spPr>
          <a:xfrm>
            <a:off x="8321040" y="1463040"/>
            <a:ext cx="224028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模型理解与解释，服务器核对事实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4864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FinPilot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19072"/>
            <a:ext cx="292608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659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500" b="1">
                <a:solidFill>
                  <a:srgbClr val="3448ED"/>
                </a:solidFill>
                <a:latin typeface="Microsoft YaHei"/>
              </a:rPr>
              <a:t>Qwen3 + LoRA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697480"/>
            <a:ext cx="24231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7212B"/>
                </a:solidFill>
                <a:latin typeface="Microsoft YaHei"/>
              </a:rPr>
              <a:t>意图提取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7212B"/>
                </a:solidFill>
                <a:latin typeface="Microsoft YaHei"/>
              </a:rPr>
              <a:t>已知原因排序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7212B"/>
                </a:solidFill>
                <a:latin typeface="Microsoft YaHei"/>
              </a:rPr>
              <a:t>研究事实选择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719072"/>
            <a:ext cx="292608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3752" y="19659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500" b="1">
                <a:solidFill>
                  <a:srgbClr val="3448ED"/>
                </a:solidFill>
                <a:latin typeface="Microsoft YaHei"/>
              </a:rPr>
              <a:t>可信服务器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2697480"/>
            <a:ext cx="24231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7212B"/>
                </a:solidFill>
                <a:latin typeface="Microsoft YaHei"/>
              </a:rPr>
              <a:t>整数分与现金流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7212B"/>
                </a:solidFill>
                <a:latin typeface="Microsoft YaHei"/>
              </a:rPr>
              <a:t>风险与资金上限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7212B"/>
                </a:solidFill>
                <a:latin typeface="Microsoft YaHei"/>
              </a:rPr>
              <a:t>完整参数与控制证明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719072"/>
            <a:ext cx="292608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7072" y="19659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500" b="1">
                <a:solidFill>
                  <a:srgbClr val="3448ED"/>
                </a:solidFill>
                <a:latin typeface="Microsoft YaHei"/>
              </a:rPr>
              <a:t>用户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2697480"/>
            <a:ext cx="24231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7212B"/>
                </a:solidFill>
                <a:latin typeface="Microsoft YaHei"/>
              </a:rPr>
              <a:t>改正草稿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7212B"/>
                </a:solidFill>
                <a:latin typeface="Microsoft YaHei"/>
              </a:rPr>
              <a:t>核对参数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7212B"/>
                </a:solidFill>
                <a:latin typeface="Microsoft YaHei"/>
              </a:rPr>
              <a:t>动态验证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330952"/>
            <a:ext cx="10149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400" b="1">
                <a:solidFill>
                  <a:srgbClr val="17212B"/>
                </a:solidFill>
                <a:latin typeface="Microsoft YaHei"/>
              </a:rPr>
              <a:t>新增金额或授权字段不被接纳；银行结果只来自回执或核账。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比较方案之前，先明确资金用途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4864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FinPilot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2768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风险与期限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65960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并列两种原型方案，不替代正式适当性评估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0320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60320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流动性与费用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53512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展示模拟规则，不冒充真实金融产品条款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47872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47872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先说明不适合的原因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41063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开销未核对、近期要用或目标压力过大时受限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535424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535424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用户自己确认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928616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草稿、参数核对和执行分别发生，结果可追溯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71600"/>
            <a:ext cx="2423160" cy="4800600"/>
          </a:xfrm>
          <a:prstGeom prst="roundRect">
            <a:avLst>
              <a:gd name="adj" fmla="val 12000"/>
            </a:avLst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ompare.png"/>
          <p:cNvPicPr>
            <a:picLocks noChangeAspect="1"/>
          </p:cNvPicPr>
          <p:nvPr/>
        </p:nvPicPr>
        <p:blipFill>
          <a:blip r:embed="rId2"/>
          <a:srcRect b="4922"/>
          <a:stretch>
            <a:fillRect/>
          </a:stretch>
        </p:blipFill>
        <p:spPr>
          <a:xfrm>
            <a:off x="8321040" y="1463040"/>
            <a:ext cx="224028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投研先核对数据，再组织报告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4864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FinPilot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2768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异常行情先隔离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65960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校验 OHLC 基本关系，保留原文件以便追溯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0320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60320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不臆造成交额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53512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成交量单位缺失时，不换算资金或推断流向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47872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47872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只引用核对后的事实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41063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日期、价格、标题来自目录，模型只选择已有条目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535424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535424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明确历史边界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928616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可用图表继续保留，异常个股显示待核对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71600"/>
            <a:ext cx="2423160" cy="4800600"/>
          </a:xfrm>
          <a:prstGeom prst="roundRect">
            <a:avLst>
              <a:gd name="adj" fmla="val 12000"/>
            </a:avLst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esearch-quality.png"/>
          <p:cNvPicPr>
            <a:picLocks noChangeAspect="1"/>
          </p:cNvPicPr>
          <p:nvPr/>
        </p:nvPicPr>
        <p:blipFill>
          <a:blip r:embed="rId2"/>
          <a:srcRect b="4922"/>
          <a:stretch>
            <a:fillRect/>
          </a:stretch>
        </p:blipFill>
        <p:spPr>
          <a:xfrm>
            <a:off x="8321040" y="1463040"/>
            <a:ext cx="224028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安全保护出现在真实操作节点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4864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FinPilot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2768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完整参数确认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65960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收款方、金额、请求摘要与会话绑定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0320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60320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累计大额动态验证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53512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真实 TOTP 注册与校验，旧验证码不能再用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47872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47872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防重复与持久回执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41063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相同草稿再次打开只返回原操作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535424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535424"/>
            <a:ext cx="653795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未知先核账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928616"/>
            <a:ext cx="65379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暂停后续资金操作，核实后验证恢复，历史不重发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71600"/>
            <a:ext cx="2423160" cy="4800600"/>
          </a:xfrm>
          <a:prstGeom prst="roundRect">
            <a:avLst>
              <a:gd name="adj" fmla="val 12000"/>
            </a:avLst>
          </a:prstGeom>
          <a:solidFill>
            <a:srgbClr val="17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onfirmation.png"/>
          <p:cNvPicPr>
            <a:picLocks noChangeAspect="1"/>
          </p:cNvPicPr>
          <p:nvPr/>
        </p:nvPicPr>
        <p:blipFill>
          <a:blip r:embed="rId2"/>
          <a:srcRect b="4922"/>
          <a:stretch>
            <a:fillRect/>
          </a:stretch>
        </p:blipFill>
        <p:spPr>
          <a:xfrm>
            <a:off x="8321040" y="1463040"/>
            <a:ext cx="224028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数据飞轮从明确同意和人工审核开始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4864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FinPilot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2768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默认关闭，用户控制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65960"/>
            <a:ext cx="102412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改正草稿→结构化候选→逐条审核；退出删除未训练反馈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0320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6032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最小化分享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53512"/>
            <a:ext cx="102412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操作种类、登记别名、方案、金额区间；没有原话或精确金额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47872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4787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离线训练与发布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41063"/>
            <a:ext cx="102412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按组拆分、固定旧记账测试、完整评测、哈希登记与回滚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535424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535424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本轮真实边界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928616"/>
            <a:ext cx="102412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隔离开发者演示反馈 1 条；真实用户反馈 0 条，不宣称用户增长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既有模型成绩与应用验证分别列示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4864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FinPilot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48132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记账提取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527048"/>
            <a:ext cx="6126480" cy="192024"/>
          </a:xfrm>
          <a:prstGeom prst="roundRect">
            <a:avLst>
              <a:gd name="adj" fmla="val 12000"/>
            </a:avLst>
          </a:prstGeom>
          <a:solidFill>
            <a:srgbClr val="DF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1527048"/>
            <a:ext cx="6126480" cy="192024"/>
          </a:xfrm>
          <a:prstGeom prst="roundRect">
            <a:avLst>
              <a:gd name="adj" fmla="val 12000"/>
            </a:avLst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1472184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300" b="1">
                <a:solidFill>
                  <a:srgbClr val="3448ED"/>
                </a:solidFill>
                <a:latin typeface="Microsoft YaHei"/>
              </a:rPr>
              <a:t>144/144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31136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缺失信息追问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276856"/>
            <a:ext cx="6126480" cy="192024"/>
          </a:xfrm>
          <a:prstGeom prst="roundRect">
            <a:avLst>
              <a:gd name="adj" fmla="val 12000"/>
            </a:avLst>
          </a:prstGeom>
          <a:solidFill>
            <a:srgbClr val="DF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2276856"/>
            <a:ext cx="6126480" cy="192024"/>
          </a:xfrm>
          <a:prstGeom prst="roundRect">
            <a:avLst>
              <a:gd name="adj" fmla="val 12000"/>
            </a:avLst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222199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300" b="1">
                <a:solidFill>
                  <a:srgbClr val="3448ED"/>
                </a:solidFill>
                <a:latin typeface="Microsoft YaHei"/>
              </a:rPr>
              <a:t>14/14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980944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统计摘要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026663"/>
            <a:ext cx="6126480" cy="192024"/>
          </a:xfrm>
          <a:prstGeom prst="roundRect">
            <a:avLst>
              <a:gd name="adj" fmla="val 12000"/>
            </a:avLst>
          </a:prstGeom>
          <a:solidFill>
            <a:srgbClr val="DF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0" y="3026663"/>
            <a:ext cx="6126480" cy="192024"/>
          </a:xfrm>
          <a:prstGeom prst="roundRect">
            <a:avLst>
              <a:gd name="adj" fmla="val 12000"/>
            </a:avLst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297180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300" b="1">
                <a:solidFill>
                  <a:srgbClr val="3448ED"/>
                </a:solidFill>
                <a:latin typeface="Microsoft YaHei"/>
              </a:rPr>
              <a:t>16/16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73075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银行意图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776472"/>
            <a:ext cx="6126480" cy="192024"/>
          </a:xfrm>
          <a:prstGeom prst="roundRect">
            <a:avLst>
              <a:gd name="adj" fmla="val 12000"/>
            </a:avLst>
          </a:prstGeom>
          <a:solidFill>
            <a:srgbClr val="DF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0" y="3776472"/>
            <a:ext cx="5893828" cy="192024"/>
          </a:xfrm>
          <a:prstGeom prst="roundRect">
            <a:avLst>
              <a:gd name="adj" fmla="val 12000"/>
            </a:avLst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3721608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300" b="1">
                <a:solidFill>
                  <a:srgbClr val="3448ED"/>
                </a:solidFill>
                <a:latin typeface="Microsoft YaHei"/>
              </a:rPr>
              <a:t>76/79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4805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画像依据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526280"/>
            <a:ext cx="6126480" cy="192024"/>
          </a:xfrm>
          <a:prstGeom prst="roundRect">
            <a:avLst>
              <a:gd name="adj" fmla="val 12000"/>
            </a:avLst>
          </a:prstGeom>
          <a:solidFill>
            <a:srgbClr val="DF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57600" y="4526280"/>
            <a:ext cx="6126480" cy="192024"/>
          </a:xfrm>
          <a:prstGeom prst="roundRect">
            <a:avLst>
              <a:gd name="adj" fmla="val 12000"/>
            </a:avLst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4471416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300" b="1">
                <a:solidFill>
                  <a:srgbClr val="3448ED"/>
                </a:solidFill>
                <a:latin typeface="Microsoft YaHei"/>
              </a:rPr>
              <a:t>64/64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536752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607086"/>
                </a:solidFill>
                <a:latin typeface="Microsoft YaHei"/>
              </a:rPr>
              <a:t>已记录应用回归 104 项；历史评审复测 11 组。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607086"/>
                </a:solidFill>
                <a:latin typeface="Microsoft YaHei"/>
              </a:rPr>
              <a:t>19 页 × 3 种宽度；历史银行流程 11 组经双代理与实际模型验收。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619048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300" b="0">
                <a:solidFill>
                  <a:srgbClr val="607086"/>
                </a:solidFill>
                <a:latin typeface="Microsoft YaHei"/>
              </a:rPr>
              <a:t>上图是原 finance-v4 合成开发留出，本轮未重训；回归通过不代表真实收益或银行认证。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架构可复现，能力与权限分开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4864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FinPilot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554480"/>
            <a:ext cx="539496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847088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网页 + 同源代理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450591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7212B"/>
                </a:solidFill>
                <a:latin typeface="Microsoft YaHei"/>
              </a:rPr>
              <a:t>19 页 · 430px 竖版 · 透明玻璃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28816" y="1554480"/>
            <a:ext cx="539496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847088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记账 / 投研 / BFF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2450591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7212B"/>
                </a:solidFill>
                <a:latin typeface="Microsoft YaHei"/>
              </a:rPr>
              <a:t>保留原两个服务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3447287"/>
            <a:ext cx="539496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739896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本地共享模型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4343400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7212B"/>
                </a:solidFill>
                <a:latin typeface="Microsoft YaHei"/>
              </a:rPr>
              <a:t>不直接持有操作权限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28816" y="3447287"/>
            <a:ext cx="539496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3739896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600" b="1">
                <a:solidFill>
                  <a:srgbClr val="3448ED"/>
                </a:solidFill>
                <a:latin typeface="Microsoft YaHei"/>
              </a:rPr>
              <a:t>MOSAIC + 银行模拟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4343400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7212B"/>
                </a:solidFill>
                <a:latin typeface="Microsoft YaHei"/>
              </a:rPr>
              <a:t>独立密钥 · 持久结果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7150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607086"/>
                </a:solidFill>
                <a:latin typeface="Microsoft YaHei"/>
              </a:rPr>
              <a:t>安全内核 MIT；Qwen 基座 Apache；保留来源归属，新增集成单列。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20040"/>
            <a:ext cx="11457432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9966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7212B"/>
                </a:solidFill>
                <a:latin typeface="Microsoft YaHei"/>
              </a:rPr>
              <a:t>赛道匹配，补强项与现有能力分开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54864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3448ED"/>
                </a:solidFill>
                <a:latin typeface="Microsoft YaHei"/>
              </a:rPr>
              <a:t>FinPilot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2768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已实现个人资金管理主线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65960"/>
            <a:ext cx="102412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账单核对、目标预留、风险约束、方案比较与模拟操作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60320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6032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优先补强：让用户看懂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953512"/>
            <a:ext cx="102412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按需术语解释、风险与费用情景、用户理解测试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47872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4787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后续扩展：完整资产视图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41063"/>
            <a:ext cx="102412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存量资产负债、已有应急金、多资产方案和偏离提醒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535424"/>
            <a:ext cx="91440" cy="640080"/>
          </a:xfrm>
          <a:prstGeom prst="rect">
            <a:avLst/>
          </a:prstGeom>
          <a:solidFill>
            <a:srgbClr val="344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535424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7212B"/>
                </a:solidFill>
                <a:latin typeface="Microsoft YaHei"/>
              </a:rPr>
              <a:t>当前能力边界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928616"/>
            <a:ext cx="102412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607086"/>
                </a:solidFill>
                <a:latin typeface="Microsoft YaHei"/>
              </a:rPr>
              <a:t>单用户模拟原型；没有真实银行接入、正式适当性或收益承诺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